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fa1de54cab4ac0" /><Relationship Type="http://schemas.openxmlformats.org/officeDocument/2006/relationships/extended-properties" Target="/docProps/app.xml" Id="Rab9d76619ff243dd" /><Relationship Type="http://schemas.openxmlformats.org/officeDocument/2006/relationships/officeDocument" Target="/ppt/presentation.xml" Id="R207e565f690c41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786bb96bf04998"/>
  </p:sldMasterIdLst>
  <p:notesMasterIdLst>
    <p:notesMasterId xmlns:r="http://schemas.openxmlformats.org/officeDocument/2006/relationships" r:id="Rba4b3533d5ee4975"/>
  </p:notesMasterIdLst>
  <p:sldIdLst>
    <p:sldId xmlns:r="http://schemas.openxmlformats.org/officeDocument/2006/relationships" id="256" r:id="R4457061e36564226"/>
    <p:sldId xmlns:r="http://schemas.openxmlformats.org/officeDocument/2006/relationships" id="257" r:id="Rf3eb4523eb234342"/>
    <p:sldId xmlns:r="http://schemas.openxmlformats.org/officeDocument/2006/relationships" id="258" r:id="R03bbec541c044d5e"/>
    <p:sldId xmlns:r="http://schemas.openxmlformats.org/officeDocument/2006/relationships" id="259" r:id="R8c7617e42c6b49a5"/>
    <p:sldId xmlns:r="http://schemas.openxmlformats.org/officeDocument/2006/relationships" id="260" r:id="R1a03af53f95442d4"/>
    <p:sldId xmlns:r="http://schemas.openxmlformats.org/officeDocument/2006/relationships" id="261" r:id="R646baeadcb924b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0f9d068f954caa" /><Relationship Type="http://schemas.openxmlformats.org/officeDocument/2006/relationships/slideMaster" Target="/ppt/slideMasters/slideMaster1.xml" Id="R8f786bb96bf04998" /><Relationship Type="http://schemas.openxmlformats.org/officeDocument/2006/relationships/notesMaster" Target="/ppt/notesMasters/notesMaster1.xml" Id="Rba4b3533d5ee4975" /><Relationship Type="http://schemas.openxmlformats.org/officeDocument/2006/relationships/presProps" Target="/ppt/presProps.xml" Id="R2c536adaf6a548bb" /><Relationship Type="http://schemas.openxmlformats.org/officeDocument/2006/relationships/tableStyles" Target="/ppt/tableStyles.xml" Id="R1f5d068fe2ee4625" /><Relationship Type="http://schemas.openxmlformats.org/officeDocument/2006/relationships/slide" Target="/ppt/slides/slide1.xml" Id="R4457061e36564226" /><Relationship Type="http://schemas.openxmlformats.org/officeDocument/2006/relationships/slide" Target="/ppt/slides/slide2.xml" Id="Rf3eb4523eb234342" /><Relationship Type="http://schemas.openxmlformats.org/officeDocument/2006/relationships/slide" Target="/ppt/slides/slide3.xml" Id="R03bbec541c044d5e" /><Relationship Type="http://schemas.openxmlformats.org/officeDocument/2006/relationships/slide" Target="/ppt/slides/slide4.xml" Id="R8c7617e42c6b49a5" /><Relationship Type="http://schemas.openxmlformats.org/officeDocument/2006/relationships/slide" Target="/ppt/slides/slide5.xml" Id="R1a03af53f95442d4" /><Relationship Type="http://schemas.openxmlformats.org/officeDocument/2006/relationships/slide" Target="/ppt/slides/slide6.xml" Id="R646baeadcb924b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e007cc907344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b3842e2a8e4693" /><Relationship Type="http://schemas.openxmlformats.org/officeDocument/2006/relationships/notesMaster" Target="/ppt/notesMasters/notesMaster1.xml" Id="R6e674cd6d9ed44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b9e00b215c4036" /><Relationship Type="http://schemas.openxmlformats.org/officeDocument/2006/relationships/notesMaster" Target="/ppt/notesMasters/notesMaster1.xml" Id="R7fb4cdc192e942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79ff730ba343bf" /><Relationship Type="http://schemas.openxmlformats.org/officeDocument/2006/relationships/notesMaster" Target="/ppt/notesMasters/notesMaster1.xml" Id="R99fd0188d7d54a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5ae1ee6c374300" /><Relationship Type="http://schemas.openxmlformats.org/officeDocument/2006/relationships/notesMaster" Target="/ppt/notesMasters/notesMaster1.xml" Id="R0c15025b1ee34b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3f5453db0f41cf" /><Relationship Type="http://schemas.openxmlformats.org/officeDocument/2006/relationships/notesMaster" Target="/ppt/notesMasters/notesMaster1.xml" Id="Red3cc557d59644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f3ce431ed446e5" /><Relationship Type="http://schemas.openxmlformats.org/officeDocument/2006/relationships/notesMaster" Target="/ppt/notesMasters/notesMaster1.xml" Id="Ra3bf7fc2d2cf42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docs/PRODUCT.md; docs/CHECK_IN.md. Portaldot Hacker House 2026, intended track Modular Cloud &amp; Middleware. Working local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docs/CHAIN_FINDINGS.md; artifacts/constructor-dryrun.json; officially recommended guide https://github.com/ItsCogumellum/portaldot-v3-testnet-guide and FAQ. Findings verified on Portaldot V3 testnet.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docs/VALIDATION.md; actual application screenshot video/assets/03-compare.png. The screenshot shows synthetic rehearsal comparison, not signed testnet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docs/VALIDATION.md: complete npm test run, 26 passed, 0 failed, 0 skipped; successful production build. artifacts/live-readonly.json at finalized height 155464: network.chain-id and network.finalized passed, five other checks blocked. artifacts/constructor-dryrun.json records unsigned failure/correction. artifacts/example-live-report.json verifies with scripts/verify-report.js and retains status blocked.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docs/CHECK_IN.md; docs/TOKEN_REQUEST.md; docs/VALIDATION.md. The latest recorded dedicated-wallet balance was 0 tPOT. The support ticket exists, but funding-request delivery and token receipt were not confirmed. No owned contract address or signed deployment receipt is claimed. Constructor dry-run estimates maximum storage deposit 56.2635 tPOT, with fees additional.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docs/PRODUCT.md; README.md; LICENSE. External developer validation, saved time, adoption and revenue remain unvalidated. Intended track Modular Cloud &amp; Middleware is subject to organizer evaluation. Current user-facing product is a local single-developer workbench, not a hosted multi-user service or security audit.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dfb484ee8a40d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ce9d204f95401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74e0858610458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cf419e434a416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5e08fbdff4475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6798ed27554e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C12C86-71FF-4563-BDA1-04EEC37C65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309EB44-83D0-4ABB-A2CC-19FB36B04B8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E9BCA5E-901F-4026-987C-BE15DEDBE2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C10097-0094-4379-8DDF-1E12B5E634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8A0F5FA-110C-449C-B2D6-62D5EDC1AE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B7E523C-5D3E-43A9-8120-27A559F92E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4E9FB8C-8FEE-4DB5-9DA3-F95CE1762A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6166946-1573-4817-A7D0-4CDC70CBC2B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568745-27BE-4D48-AA14-1A4FC94EF9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39AFD7F-7CEE-4227-8263-42F6AE37FE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2462375e55488e" /><Relationship Type="http://schemas.openxmlformats.org/officeDocument/2006/relationships/slideLayout" Target="/ppt/slideLayouts/slideLayout1.xml" Id="R8e0550c2be3f4749" /><Relationship Type="http://schemas.openxmlformats.org/officeDocument/2006/relationships/slideLayout" Target="/ppt/slideLayouts/slideLayout2.xml" Id="R7629dcb2bcaa4d86" /><Relationship Type="http://schemas.openxmlformats.org/officeDocument/2006/relationships/slideLayout" Target="/ppt/slideLayouts/slideLayout3.xml" Id="Ra8639aaca5c64149" /><Relationship Type="http://schemas.openxmlformats.org/officeDocument/2006/relationships/slideLayout" Target="/ppt/slideLayouts/slideLayout4.xml" Id="R21cf1f889a1f4859" /><Relationship Type="http://schemas.openxmlformats.org/officeDocument/2006/relationships/slideLayout" Target="/ppt/slideLayouts/slideLayout5.xml" Id="Rf73d2f72fcf64c67" /><Relationship Type="http://schemas.openxmlformats.org/officeDocument/2006/relationships/slideLayout" Target="/ppt/slideLayouts/slideLayout6.xml" Id="Re22b729b531640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0550c2be3f4749"/>
    <p:sldLayoutId xmlns:r="http://schemas.openxmlformats.org/officeDocument/2006/relationships" id="2147483650" r:id="R7629dcb2bcaa4d86"/>
    <p:sldLayoutId xmlns:r="http://schemas.openxmlformats.org/officeDocument/2006/relationships" id="2147483651" r:id="Ra8639aaca5c64149"/>
    <p:sldLayoutId xmlns:r="http://schemas.openxmlformats.org/officeDocument/2006/relationships" id="2147483652" r:id="R21cf1f889a1f4859"/>
    <p:sldLayoutId xmlns:r="http://schemas.openxmlformats.org/officeDocument/2006/relationships" id="2147483653" r:id="Rf73d2f72fcf64c67"/>
    <p:sldLayoutId xmlns:r="http://schemas.openxmlformats.org/officeDocument/2006/relationships" id="2147483654" r:id="Re22b729b531640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01ec77eec84883" /><Relationship Type="http://schemas.openxmlformats.org/officeDocument/2006/relationships/notesSlide" Target="/ppt/notesSlides/notesSlide1.xml" Id="R4b8e6f3eebc84e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ddc6e9e7664df8" /><Relationship Type="http://schemas.openxmlformats.org/officeDocument/2006/relationships/notesSlide" Target="/ppt/notesSlides/notesSlide2.xml" Id="R4e337d9efac748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fb81bb443d4d7c" /><Relationship Type="http://schemas.openxmlformats.org/officeDocument/2006/relationships/image" Target="/ppt/media/image.jpeg" Id="Rcccf34e68ae6435e" /><Relationship Type="http://schemas.openxmlformats.org/officeDocument/2006/relationships/notesSlide" Target="/ppt/notesSlides/notesSlide3.xml" Id="Ra172fd3210a540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aa99e0ac064da7" /><Relationship Type="http://schemas.openxmlformats.org/officeDocument/2006/relationships/notesSlide" Target="/ppt/notesSlides/notesSlide4.xml" Id="R673e6e14d0e14c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57fa2bf73a498f" /><Relationship Type="http://schemas.openxmlformats.org/officeDocument/2006/relationships/notesSlide" Target="/ppt/notesSlides/notesSlide5.xml" Id="Re5cd567b0db646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9e91f3b84a4227" /><Relationship Type="http://schemas.openxmlformats.org/officeDocument/2006/relationships/notesSlide" Target="/ppt/notesSlides/notesSlide6.xml" Id="R120b49f0991b46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1">
            <a:extLst xmlns:a="http://schemas.openxmlformats.org/drawingml/2006/main">
              <a:ext uri="{FF2B5EF4-FFF2-40B4-BE49-F238E27FC236}">
                <a16:creationId xmlns:a16="http://schemas.microsoft.com/office/drawing/2014/main" id="{B34F7F05-E823-4695-A6C6-CDD49522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rPr>
              <a:t>ReviveCheck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AC2C4A7-9D8A-4077-9C45-D61C52B1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rPr>
              <a:t>1/6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B1FA055-C9B1-4249-B405-658EF4C4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382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2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2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2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2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2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2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2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2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2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2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2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rPr>
              <a:t>Migration acceptance</a:t>
            </a:r>
          </a:p>
          <a:p xmlns:a="http://schemas.openxmlformats.org/drawingml/2006/main">
            <a:pPr>
              <a:defRPr sz="42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rPr>
              <a:t>for Portaldot V3</a:t>
            </a:r>
          </a:p>
        </p:txBody>
      </p:sp>
      <p:sp>
        <p:nvSpPr>
          <p:cNvPr id="4" name="user">
            <a:extLst xmlns:a="http://schemas.openxmlformats.org/drawingml/2006/main">
              <a:ext uri="{FF2B5EF4-FFF2-40B4-BE49-F238E27FC236}">
                <a16:creationId xmlns:a16="http://schemas.microsoft.com/office/drawing/2014/main" id="{06ADBCE6-FC8C-4163-B4BE-00D49783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1043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rPr>
              <a:t>For Solidity developers and the maintainers reviewing their migration</a:t>
            </a:r>
          </a:p>
        </p:txBody>
      </p:sp>
      <p:sp>
        <p:nvSpPr>
          <p:cNvPr id="5" name="problem">
            <a:extLst xmlns:a="http://schemas.openxmlformats.org/drawingml/2006/main">
              <a:ext uri="{FF2B5EF4-FFF2-40B4-BE49-F238E27FC236}">
                <a16:creationId xmlns:a16="http://schemas.microsoft.com/office/drawing/2014/main" id="{F2F8BAD4-7126-44D2-9C89-6BA54100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10439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rPr>
              <a:t>RPC settings, mapped accounts, deployment logs and contract state</a:t>
            </a:r>
          </a:p>
          <a:p xmlns:a="http://schemas.openxmlformats.org/drawingml/2006/main">
            <a:pPr>
              <a:defRPr sz="2175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rPr>
              <a:t>need one repeatable acceptance record.</a:t>
            </a:r>
          </a:p>
        </p:txBody>
      </p:sp>
      <p:sp>
        <p:nvSpPr>
          <p:cNvPr id="6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E3452E12-7624-4395-ABE3-3E50F22D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1502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445A7"/>
                </a:solidFill>
                <a:latin typeface="Helvetica Neue"/>
                <a:ea typeface="Helvetica Neue"/>
                <a:cs typeface="Helvetica Neue"/>
              </a:rPr>
              <a:t>Check-in prototype, 23 October 2026</a:t>
            </a:r>
          </a:p>
        </p:txBody>
      </p:sp>
    </p:spTree>
    <p:extLst>
      <p:ext uri="{BB962C8B-B14F-4D97-AF65-F5344CB8AC3E}">
        <p14:creationId xmlns:p14="http://schemas.microsoft.com/office/powerpoint/2010/main" val="284838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2">
            <a:extLst xmlns:a="http://schemas.openxmlformats.org/drawingml/2006/main">
              <a:ext uri="{FF2B5EF4-FFF2-40B4-BE49-F238E27FC236}">
                <a16:creationId xmlns:a16="http://schemas.microsoft.com/office/drawing/2014/main" id="{CB860863-6FDF-4844-88B1-9A34A57C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rPr>
              <a:t>V3 makes acceptance specific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6EA0CA2-654E-484C-871D-B6A0BA96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rPr>
              <a:t>2/6</a:t>
            </a:r>
          </a:p>
        </p:txBody>
      </p:sp>
      <p:sp>
        <p:nvSpPr>
          <p:cNvPr id="3" name="number-1">
            <a:extLst xmlns:a="http://schemas.openxmlformats.org/drawingml/2006/main">
              <a:ext uri="{FF2B5EF4-FFF2-40B4-BE49-F238E27FC236}">
                <a16:creationId xmlns:a16="http://schemas.microsoft.com/office/drawing/2014/main" id="{17597872-F760-4F3B-99E3-1F2267A7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0225"/>
            <a:ext cx="628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row-title-1">
            <a:extLst xmlns:a="http://schemas.openxmlformats.org/drawingml/2006/main">
              <a:ext uri="{FF2B5EF4-FFF2-40B4-BE49-F238E27FC236}">
                <a16:creationId xmlns:a16="http://schemas.microsoft.com/office/drawing/2014/main" id="{AC9BD0B1-D167-4C3B-8B65-23AA3A50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800225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rPr>
              <a:t>Native and EVM accounts</a:t>
            </a:r>
          </a:p>
        </p:txBody>
      </p:sp>
      <p:sp>
        <p:nvSpPr>
          <p:cNvPr id="5" name="row-body-1">
            <a:extLst xmlns:a="http://schemas.openxmlformats.org/drawingml/2006/main">
              <a:ext uri="{FF2B5EF4-FFF2-40B4-BE49-F238E27FC236}">
                <a16:creationId xmlns:a16="http://schemas.microsoft.com/office/drawing/2014/main" id="{70E01E68-02DD-4D0F-B19B-7F686EB8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266950"/>
            <a:ext cx="958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rPr>
              <a:t>ReviveApi resolves both directions. The report records the actual</a:t>
            </a:r>
          </a:p>
          <a:p xmlns:a="http://schemas.openxmlformats.org/drawingml/2006/main">
            <a: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rPr>
              <a:t>account pair before treating it as the same caller.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6590ED2F-8610-4883-9A4D-F64A4429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628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row-title-2">
            <a:extLst xmlns:a="http://schemas.openxmlformats.org/drawingml/2006/main">
              <a:ext uri="{FF2B5EF4-FFF2-40B4-BE49-F238E27FC236}">
                <a16:creationId xmlns:a16="http://schemas.microsoft.com/office/drawing/2014/main" id="{9F7FDBDE-20B2-448F-A92A-93E1B7F4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57550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rPr>
              <a:t>A shared finalized checkpoint</a:t>
            </a:r>
          </a:p>
        </p:txBody>
      </p:sp>
      <p:sp>
        <p:nvSpPr>
          <p:cNvPr id="8" name="row-body-2">
            <a:extLst xmlns:a="http://schemas.openxmlformats.org/drawingml/2006/main">
              <a:ext uri="{FF2B5EF4-FFF2-40B4-BE49-F238E27FC236}">
                <a16:creationId xmlns:a16="http://schemas.microsoft.com/office/drawing/2014/main" id="{26D25FDB-8F12-4B13-B8F5-9A680420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24275"/>
            <a:ext cx="958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rPr>
              <a:t>Native and EVM block hashes differ. ReviveApi.ethBlockHash links</a:t>
            </a:r>
          </a:p>
          <a:p xmlns:a="http://schemas.openxmlformats.org/drawingml/2006/main">
            <a: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rPr>
              <a:t>the same finalized height across both interfaces.</a:t>
            </a:r>
          </a:p>
        </p:txBody>
      </p:sp>
      <p:sp>
        <p:nvSpPr>
          <p:cNvPr id="9" name="number-3">
            <a:extLst xmlns:a="http://schemas.openxmlformats.org/drawingml/2006/main">
              <a:ext uri="{FF2B5EF4-FFF2-40B4-BE49-F238E27FC236}">
                <a16:creationId xmlns:a16="http://schemas.microsoft.com/office/drawing/2014/main" id="{B7E15374-E81C-4B7F-AF35-28347169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628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row-title-3">
            <a:extLst xmlns:a="http://schemas.openxmlformats.org/drawingml/2006/main">
              <a:ext uri="{FF2B5EF4-FFF2-40B4-BE49-F238E27FC236}">
                <a16:creationId xmlns:a16="http://schemas.microsoft.com/office/drawing/2014/main" id="{5D40735E-CCD6-4E65-82EC-BA6E993B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14875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rPr>
              <a:t>Constructor encoding</a:t>
            </a:r>
          </a:p>
        </p:txBody>
      </p:sp>
      <p:sp>
        <p:nvSpPr>
          <p:cNvPr id="11" name="row-body-3">
            <a:extLst xmlns:a="http://schemas.openxmlformats.org/drawingml/2006/main">
              <a:ext uri="{FF2B5EF4-FFF2-40B4-BE49-F238E27FC236}">
                <a16:creationId xmlns:a16="http://schemas.microsoft.com/office/drawing/2014/main" id="{A47F066C-99F3-407C-BD09-26DA3F53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81600"/>
            <a:ext cx="958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rPr>
              <a:t>A real unsigned simulation reproduces EvmConstructorNonEmptyData.</a:t>
            </a:r>
          </a:p>
          <a:p xmlns:a="http://schemas.openxmlformats.org/drawingml/2006/main">
            <a: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rPr>
              <a:t>Appending the ABI argument to EVM initcode corrects that failure.</a:t>
            </a:r>
          </a:p>
        </p:txBody>
      </p:sp>
    </p:spTree>
    <p:extLst>
      <p:ext uri="{BB962C8B-B14F-4D97-AF65-F5344CB8AC3E}">
        <p14:creationId xmlns:p14="http://schemas.microsoft.com/office/powerpoint/2010/main" val="20148152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">
            <a:extLst xmlns:a="http://schemas.openxmlformats.org/drawingml/2006/main">
              <a:ext uri="{FF2B5EF4-FFF2-40B4-BE49-F238E27FC236}">
                <a16:creationId xmlns:a16="http://schemas.microsoft.com/office/drawing/2014/main" id="{91527349-8A74-477E-8CA5-523FE39B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rPr>
              <a:t>One project, repeatable review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50A2BC1-F384-40AD-9133-E6687885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rPr>
              <a:t>3/6</a:t>
            </a:r>
          </a:p>
        </p:txBody>
      </p:sp>
      <p:sp>
        <p:nvSpPr>
          <p:cNvPr id="3" name="lifecycle">
            <a:extLst xmlns:a="http://schemas.openxmlformats.org/drawingml/2006/main">
              <a:ext uri="{FF2B5EF4-FFF2-40B4-BE49-F238E27FC236}">
                <a16:creationId xmlns:a16="http://schemas.microsoft.com/office/drawing/2014/main" id="{6816F994-D7A0-434E-863F-DFA47382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28825"/>
            <a:ext cx="40767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rPr>
              <a:t>Create a target</a:t>
            </a:r>
          </a:p>
          <a:p xmlns:a="http://schemas.openxmlformats.org/drawingml/2006/main">
            <a:pPr>
              <a:defRPr sz="225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rPr>
              <a:t>Run acceptance</a:t>
            </a:r>
          </a:p>
          <a:p xmlns:a="http://schemas.openxmlformats.org/drawingml/2006/main">
            <a:pPr>
              <a:defRPr sz="225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rPr>
              <a:t>Correct and rerun</a:t>
            </a:r>
          </a:p>
          <a:p xmlns:a="http://schemas.openxmlformats.org/drawingml/2006/main">
            <a:pPr>
              <a:defRPr sz="225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rPr>
              <a:t>Compare saved inputs</a:t>
            </a:r>
          </a:p>
          <a:p xmlns:a="http://schemas.openxmlformats.org/drawingml/2006/main">
            <a:pPr>
              <a:defRPr sz="225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rPr>
              <a:t>Export the evidence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E899E-954B-418F-827E-4939907DB9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f34e68ae6435e"/>
          <a:stretch xmlns:a="http://schemas.openxmlformats.org/drawingml/2006/main"/>
        </p:blipFill>
        <p:spPr>
          <a:xfrm xmlns:a="http://schemas.openxmlformats.org/drawingml/2006/main">
            <a:off x="5049117" y="1866900"/>
            <a:ext cx="6265716" cy="3790950"/>
          </a:xfrm>
          <a:prstGeom xmlns:a="http://schemas.openxmlformats.org/drawingml/2006/main" prst="rect">
            <a:avLst/>
          </a:prstGeom>
        </p:spPr>
      </p:pic>
      <p:sp>
        <p:nvSpPr>
          <p:cNvPr id="5" name="comparison-boundary">
            <a:extLst xmlns:a="http://schemas.openxmlformats.org/drawingml/2006/main">
              <a:ext uri="{FF2B5EF4-FFF2-40B4-BE49-F238E27FC236}">
                <a16:creationId xmlns:a16="http://schemas.microsoft.com/office/drawing/2014/main" id="{7F59F009-4D44-4EC7-A085-9BE768F9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rPr>
              <a:t>Changed account, contract or assertion requires a new baseline.</a:t>
            </a:r>
          </a:p>
          <a:p xmlns:a="http://schemas.openxmlformats.org/drawingml/2006/main">
            <a:pPr>
              <a:defRPr sz="1725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rPr>
              <a:t>The screenshot shows explicitly synthetic rehearsal results.</a:t>
            </a:r>
          </a:p>
        </p:txBody>
      </p:sp>
    </p:spTree>
    <p:extLst>
      <p:ext uri="{BB962C8B-B14F-4D97-AF65-F5344CB8AC3E}">
        <p14:creationId xmlns:p14="http://schemas.microsoft.com/office/powerpoint/2010/main" val="14774646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4">
            <a:extLst xmlns:a="http://schemas.openxmlformats.org/drawingml/2006/main">
              <a:ext uri="{FF2B5EF4-FFF2-40B4-BE49-F238E27FC236}">
                <a16:creationId xmlns:a16="http://schemas.microsoft.com/office/drawing/2014/main" id="{F1DAA90C-08D0-4E38-8BC2-4FDFC02D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rPr>
              <a:t>Evidence at Check-in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A28DED6-BAC0-4021-94E3-14C87805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rPr>
              <a:t>4/6</a:t>
            </a:r>
          </a:p>
        </p:txBody>
      </p:sp>
      <p:sp>
        <p:nvSpPr>
          <p:cNvPr id="3" name="test-number">
            <a:extLst xmlns:a="http://schemas.openxmlformats.org/drawingml/2006/main">
              <a:ext uri="{FF2B5EF4-FFF2-40B4-BE49-F238E27FC236}">
                <a16:creationId xmlns:a16="http://schemas.microsoft.com/office/drawing/2014/main" id="{CE22AFE4-BE94-44CA-B4C3-69DB7B16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55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855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855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855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855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855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855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855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855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855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855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55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  <p:sp>
        <p:nvSpPr>
          <p:cNvPr id="4" name="test-label">
            <a:extLst xmlns:a="http://schemas.openxmlformats.org/drawingml/2006/main">
              <a:ext uri="{FF2B5EF4-FFF2-40B4-BE49-F238E27FC236}">
                <a16:creationId xmlns:a16="http://schemas.microsoft.com/office/drawing/2014/main" id="{9E528E35-A349-403C-9A43-081F3AA7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rPr>
              <a:t>automated tests passed</a:t>
            </a:r>
          </a:p>
        </p:txBody>
      </p:sp>
      <p:sp>
        <p:nvSpPr>
          <p:cNvPr id="5" name="build-label">
            <a:extLst xmlns:a="http://schemas.openxmlformats.org/drawingml/2006/main">
              <a:ext uri="{FF2B5EF4-FFF2-40B4-BE49-F238E27FC236}">
                <a16:creationId xmlns:a16="http://schemas.microsoft.com/office/drawing/2014/main" id="{90ACF9BB-64AF-402F-A3A8-320560D8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rPr>
              <a:t>Production build passed</a:t>
            </a:r>
          </a:p>
        </p:txBody>
      </p:sp>
      <p:sp>
        <p:nvSpPr>
          <p:cNvPr id="6" name="live-evidence">
            <a:extLst xmlns:a="http://schemas.openxmlformats.org/drawingml/2006/main">
              <a:ext uri="{FF2B5EF4-FFF2-40B4-BE49-F238E27FC236}">
                <a16:creationId xmlns:a16="http://schemas.microsoft.com/office/drawing/2014/main" id="{DFDCF73D-F092-46F5-A646-AA771D8B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14525"/>
            <a:ext cx="619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rPr>
              <a:t>Real read-only network evidence</a:t>
            </a:r>
          </a:p>
          <a:p xmlns:a="http://schemas.openxmlformats.org/drawingml/2006/main">
            <a:pPr>
              <a:defRPr sz="210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rPr>
              <a:t>V3 identity and finalized checkpoint verified</a:t>
            </a:r>
          </a:p>
          <a:p xmlns:a="http://schemas.openxmlformats.org/drawingml/2006/main">
            <a:pPr>
              <a:defRPr sz="210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rPr>
              <a:t>Five deployment-related checks remain blocked</a:t>
            </a:r>
          </a:p>
        </p:txBody>
      </p:sp>
      <p:sp>
        <p:nvSpPr>
          <p:cNvPr id="7" name="simulation-evidence">
            <a:extLst xmlns:a="http://schemas.openxmlformats.org/drawingml/2006/main">
              <a:ext uri="{FF2B5EF4-FFF2-40B4-BE49-F238E27FC236}">
                <a16:creationId xmlns:a16="http://schemas.microsoft.com/office/drawing/2014/main" id="{BA854BBB-14F8-4498-9F73-2AAC1931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48100"/>
            <a:ext cx="619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rPr>
              <a:t>Real unsigned constructor simulation</a:t>
            </a:r>
          </a:p>
          <a:p xmlns:a="http://schemas.openxmlformats.org/drawingml/2006/main">
            <a:pPr>
              <a:defRPr sz="210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rPr>
              <a:t>Failure reproduced and correction verified</a:t>
            </a:r>
          </a:p>
          <a:p xmlns:a="http://schemas.openxmlformats.org/drawingml/2006/main">
            <a:pPr>
              <a:defRPr sz="210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rPr>
              <a:t>Simulation does not establish deployment</a:t>
            </a:r>
          </a:p>
        </p:txBody>
      </p:sp>
      <p:sp>
        <p:nvSpPr>
          <p:cNvPr id="8" name="report-integrity">
            <a:extLst xmlns:a="http://schemas.openxmlformats.org/drawingml/2006/main">
              <a:ext uri="{FF2B5EF4-FFF2-40B4-BE49-F238E27FC236}">
                <a16:creationId xmlns:a16="http://schemas.microsoft.com/office/drawing/2014/main" id="{456BFD31-667C-4C6E-B447-C81A84F1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rPr>
              <a:t>JSON report integrity verifies through the CLI. Its live result remains blocked.</a:t>
            </a:r>
          </a:p>
        </p:txBody>
      </p:sp>
    </p:spTree>
    <p:extLst>
      <p:ext uri="{BB962C8B-B14F-4D97-AF65-F5344CB8AC3E}">
        <p14:creationId xmlns:p14="http://schemas.microsoft.com/office/powerpoint/2010/main" val="17210617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5">
            <a:extLst xmlns:a="http://schemas.openxmlformats.org/drawingml/2006/main">
              <a:ext uri="{FF2B5EF4-FFF2-40B4-BE49-F238E27FC236}">
                <a16:creationId xmlns:a16="http://schemas.microsoft.com/office/drawing/2014/main" id="{81236E29-732C-4612-872F-5582D8A2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rPr>
              <a:t>Next chain milestone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D9519B7-30A6-41A7-AB83-B5D8E3F9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rPr>
              <a:t>5/6</a:t>
            </a:r>
          </a:p>
        </p:txBody>
      </p:sp>
      <p:sp>
        <p:nvSpPr>
          <p:cNvPr id="3" name="pending-heading">
            <a:extLst xmlns:a="http://schemas.openxmlformats.org/drawingml/2006/main">
              <a:ext uri="{FF2B5EF4-FFF2-40B4-BE49-F238E27FC236}">
                <a16:creationId xmlns:a16="http://schemas.microsoft.com/office/drawing/2014/main" id="{C73E90BC-DA54-4F63-889C-0598556C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550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550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550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550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550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550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550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550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550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rPr>
              <a:t>Signed deployment and write/readback remain pending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6BAEBFA9-11C8-4317-8503-C45F79BA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628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row-title-1">
            <a:extLst xmlns:a="http://schemas.openxmlformats.org/drawingml/2006/main">
              <a:ext uri="{FF2B5EF4-FFF2-40B4-BE49-F238E27FC236}">
                <a16:creationId xmlns:a16="http://schemas.microsoft.com/office/drawing/2014/main" id="{C60848DE-9D41-4C2C-A375-F1826DD7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895600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rPr>
              <a:t>Confirm test-token funding</a:t>
            </a:r>
          </a:p>
        </p:txBody>
      </p:sp>
      <p:sp>
        <p:nvSpPr>
          <p:cNvPr id="6" name="row-body-1">
            <a:extLst xmlns:a="http://schemas.openxmlformats.org/drawingml/2006/main">
              <a:ext uri="{FF2B5EF4-FFF2-40B4-BE49-F238E27FC236}">
                <a16:creationId xmlns:a16="http://schemas.microsoft.com/office/drawing/2014/main" id="{1843708F-AF74-4452-8466-C2F613CB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62325"/>
            <a:ext cx="958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rPr>
              <a:t>The latest recorded dedicated-wallet balance is 0 tPOT.</a:t>
            </a:r>
          </a:p>
          <a:p xmlns:a="http://schemas.openxmlformats.org/drawingml/2006/main">
            <a: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rPr>
              <a:t>Ticket creation does not establish token receipt.</a:t>
            </a:r>
          </a:p>
        </p:txBody>
      </p:sp>
      <p:sp>
        <p:nvSpPr>
          <p:cNvPr id="7" name="number-2">
            <a:extLst xmlns:a="http://schemas.openxmlformats.org/drawingml/2006/main">
              <a:ext uri="{FF2B5EF4-FFF2-40B4-BE49-F238E27FC236}">
                <a16:creationId xmlns:a16="http://schemas.microsoft.com/office/drawing/2014/main" id="{C2FB6A01-8D7C-4D70-86C4-82218649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9575"/>
            <a:ext cx="628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row-title-2">
            <a:extLst xmlns:a="http://schemas.openxmlformats.org/drawingml/2006/main">
              <a:ext uri="{FF2B5EF4-FFF2-40B4-BE49-F238E27FC236}">
                <a16:creationId xmlns:a16="http://schemas.microsoft.com/office/drawing/2014/main" id="{27F7E43F-2545-4F22-9F79-F0FD909D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19575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rPr>
              <a:t>Deploy and record a finalized receipt</a:t>
            </a:r>
          </a:p>
        </p:txBody>
      </p:sp>
      <p:sp>
        <p:nvSpPr>
          <p:cNvPr id="9" name="row-body-2">
            <a:extLst xmlns:a="http://schemas.openxmlformats.org/drawingml/2006/main">
              <a:ext uri="{FF2B5EF4-FFF2-40B4-BE49-F238E27FC236}">
                <a16:creationId xmlns:a16="http://schemas.microsoft.com/office/drawing/2014/main" id="{32393484-0240-4C25-821D-CC7B7A80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86300"/>
            <a:ext cx="958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rPr>
              <a:t>Use the isolated native wallet with fresh weight/storage estimates</a:t>
            </a:r>
          </a:p>
          <a:p xmlns:a="http://schemas.openxmlformats.org/drawingml/2006/main">
            <a: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rPr>
              <a:t>and an explicit test-token budget.</a:t>
            </a:r>
          </a:p>
        </p:txBody>
      </p:sp>
      <p:sp>
        <p:nvSpPr>
          <p:cNvPr id="10" name="write-pending">
            <a:extLst xmlns:a="http://schemas.openxmlformats.org/drawingml/2006/main">
              <a:ext uri="{FF2B5EF4-FFF2-40B4-BE49-F238E27FC236}">
                <a16:creationId xmlns:a16="http://schemas.microsoft.com/office/drawing/2014/main" id="{870CB0A3-00BC-43D3-AB5E-CF7464D4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95950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A34D09"/>
                </a:solidFill>
                <a:latin typeface="Helvetica Neue"/>
                <a:ea typeface="Helvetica Neue"/>
                <a:cs typeface="Helvetica Neue"/>
              </a:rPr>
              <a:t>Then perform a separate state-changing write and finalized dual-interface readback.</a:t>
            </a:r>
          </a:p>
        </p:txBody>
      </p:sp>
    </p:spTree>
    <p:extLst>
      <p:ext uri="{BB962C8B-B14F-4D97-AF65-F5344CB8AC3E}">
        <p14:creationId xmlns:p14="http://schemas.microsoft.com/office/powerpoint/2010/main" val="4827008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6">
            <a:extLst xmlns:a="http://schemas.openxmlformats.org/drawingml/2006/main">
              <a:ext uri="{FF2B5EF4-FFF2-40B4-BE49-F238E27FC236}">
                <a16:creationId xmlns:a16="http://schemas.microsoft.com/office/drawing/2014/main" id="{7913ABEF-7AB6-43D7-8009-CB61E1BA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445A7"/>
                </a:solidFill>
                <a:latin typeface="Helvetica Neue"/>
                <a:ea typeface="Helvetica Neue"/>
                <a:cs typeface="Helvetica Neue"/>
              </a:rPr>
              <a:t>Continued ecosystem work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1D4BDAC-9710-4111-B141-57E426CC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rPr>
              <a:t>6/6</a:t>
            </a:r>
          </a:p>
        </p:txBody>
      </p:sp>
      <p:sp>
        <p:nvSpPr>
          <p:cNvPr id="3" name="contribution">
            <a:extLst xmlns:a="http://schemas.openxmlformats.org/drawingml/2006/main">
              <a:ext uri="{FF2B5EF4-FFF2-40B4-BE49-F238E27FC236}">
                <a16:creationId xmlns:a16="http://schemas.microsoft.com/office/drawing/2014/main" id="{C5D1BB26-202E-43C9-A397-1D165FB0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54A"/>
                </a:solidFill>
                <a:latin typeface="Helvetica Neue"/>
                <a:ea typeface="Helvetica Neue"/>
                <a:cs typeface="Helvetica Neue"/>
              </a:rPr>
              <a:t>Reusable V3 acceptance plans and reviewable comparisons</a:t>
            </a:r>
          </a:p>
        </p:txBody>
      </p:sp>
      <p:sp>
        <p:nvSpPr>
          <p:cNvPr id="4" name="adoption-next">
            <a:extLst xmlns:a="http://schemas.openxmlformats.org/drawingml/2006/main">
              <a:ext uri="{FF2B5EF4-FFF2-40B4-BE49-F238E27FC236}">
                <a16:creationId xmlns:a16="http://schemas.microsoft.com/office/drawing/2014/main" id="{0FED79C6-E2ED-470E-8EA7-06706E62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10572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rPr>
              <a:t>The next validation is one external builder bringing a compatible contract,</a:t>
            </a:r>
          </a:p>
          <a:p xmlns:a="http://schemas.openxmlformats.org/drawingml/2006/main">
            <a:pPr>
              <a:defRPr sz="2175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54A"/>
                </a:solidFill>
                <a:latin typeface="Helvetica Neue"/>
                <a:ea typeface="Helvetica Neue"/>
                <a:cs typeface="Helvetica Neue"/>
              </a:rPr>
              <a:t>running the workflow, and explaining the result without reconstructed logs.</a:t>
            </a:r>
          </a:p>
        </p:txBody>
      </p:sp>
      <p:sp>
        <p:nvSpPr>
          <p:cNvPr id="5" name="distribution">
            <a:extLst xmlns:a="http://schemas.openxmlformats.org/drawingml/2006/main">
              <a:ext uri="{FF2B5EF4-FFF2-40B4-BE49-F238E27FC236}">
                <a16:creationId xmlns:a16="http://schemas.microsoft.com/office/drawing/2014/main" id="{1E2D7F2E-2392-41F2-BC92-D95FDBF6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67225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rPr>
              <a:t>Initial distribution: MIT-licensed local workbench and CLI.</a:t>
            </a:r>
          </a:p>
          <a:p xmlns:a="http://schemas.openxmlformats.org/drawingml/2006/main">
            <a:pPr>
              <a:defRPr sz="21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rPr>
              <a:t>Next scope: a CI example and additional validated V3 assertions.</a:t>
            </a:r>
          </a:p>
        </p:txBody>
      </p:sp>
      <p:sp>
        <p:nvSpPr>
          <p:cNvPr id="6" name="unvalidated">
            <a:extLst xmlns:a="http://schemas.openxmlformats.org/drawingml/2006/main">
              <a:ext uri="{FF2B5EF4-FFF2-40B4-BE49-F238E27FC236}">
                <a16:creationId xmlns:a16="http://schemas.microsoft.com/office/drawing/2014/main" id="{F0710A6A-352B-45E7-8991-A49D9615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0617E"/>
                </a:solidFill>
                <a:latin typeface="Helvetica Neue"/>
                <a:ea typeface="Helvetica Neue"/>
                <a:cs typeface="Helvetica Neue"/>
              </a:rPr>
              <a:t>Independent adoption, time savings, revenue and production safety remain unvalidated.</a:t>
            </a:r>
          </a:p>
        </p:txBody>
      </p:sp>
    </p:spTree>
    <p:extLst>
      <p:ext uri="{BB962C8B-B14F-4D97-AF65-F5344CB8AC3E}">
        <p14:creationId xmlns:p14="http://schemas.microsoft.com/office/powerpoint/2010/main" val="13335727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2026-10-23T04:55:52.8570000Z</dcterms:created>
  <dcterms:modified xsi:type="dcterms:W3CDTF">2026-10-23T04:55:52.8570000Z</dcterms:modified>
</coreProperties>
</file>